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7" r:id="rId4"/>
    <p:sldId id="268" r:id="rId5"/>
    <p:sldId id="259" r:id="rId6"/>
    <p:sldId id="270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4B0E6-219A-5260-E651-D05786794A23}" v="474" dt="2026-03-16T02:10:09.642"/>
    <p1510:client id="{C30281A9-3AAF-A112-D83D-D43475925C5F}" v="52" dt="2026-03-15T21:51:51.641"/>
    <p1510:client id="{D2035D45-3864-E12A-C440-3FAF43CD917D}" v="358" dt="2026-03-17T03:19:33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59779-E546-4E7C-A8E6-F8911508A38B}" type="datetimeFigureOut"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D49ED-B4BE-4544-A90E-FB6A07D5D1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5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01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  <p:sldLayoutId id="214748366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1038560" cy="2314185"/>
          </a:xfrm>
        </p:spPr>
        <p:txBody>
          <a:bodyPr/>
          <a:lstStyle/>
          <a:p>
            <a:pPr>
              <a:lnSpc>
                <a:spcPct val="114999"/>
              </a:lnSpc>
              <a:spcBef>
                <a:spcPts val="0"/>
              </a:spcBef>
            </a:pPr>
            <a:r>
              <a:rPr lang="en-US" sz="4000" b="1">
                <a:latin typeface="Calibri"/>
                <a:ea typeface="Calibri"/>
                <a:cs typeface="Calibri"/>
              </a:rPr>
              <a:t>Policy Billing &amp;</a:t>
            </a:r>
            <a:endParaRPr lang="en-US" sz="4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  <a:spcBef>
                <a:spcPts val="0"/>
              </a:spcBef>
            </a:pPr>
            <a:r>
              <a:rPr lang="en-US" sz="4000" b="1">
                <a:latin typeface="Calibri"/>
                <a:ea typeface="Calibri"/>
                <a:cs typeface="Calibri"/>
              </a:rPr>
              <a:t>Collections Engine</a:t>
            </a:r>
            <a:endParaRPr lang="en-US" sz="4000"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                                        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8CBE7-7129-10DA-2ED0-148384ECF6FB}"/>
              </a:ext>
            </a:extLst>
          </p:cNvPr>
          <p:cNvSpPr txBox="1"/>
          <p:nvPr/>
        </p:nvSpPr>
        <p:spPr>
          <a:xfrm>
            <a:off x="835068" y="683712"/>
            <a:ext cx="8423753" cy="67710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latin typeface="Calibri"/>
                <a:ea typeface="Calibri"/>
                <a:cs typeface="Calibri"/>
              </a:rPr>
              <a:t>HIGH AVAILABILITY SYSTEM DESIGN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4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BA47B-CC2D-19B8-31CC-ED353BC3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23195" cy="50974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/>
              <a:t>System Overview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E3AD-9375-B46F-0C73-6A9625BA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194453"/>
            <a:ext cx="8523195" cy="44893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cap="all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Purpose of the System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Automate billing, payment processing, reminders, and delinquency management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Integrate with policy, customer, and notification services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Support secure payment initiation and callback handling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b="1" cap="all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Capabilities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Invoice generation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Payment initiation &amp; tracking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Retry workflows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Reminder notifications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Delinquency updates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73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68C1-5A32-8B33-2B0A-03A4E7AE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531786"/>
            <a:ext cx="8837113" cy="49599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i="1" dirty="0">
                <a:ea typeface="+mj-lt"/>
                <a:cs typeface="+mj-lt"/>
              </a:rPr>
              <a:t> </a:t>
            </a:r>
            <a:r>
              <a:rPr lang="en-US" b="1">
                <a:solidFill>
                  <a:srgbClr val="FFFFFF"/>
                </a:solidFill>
                <a:latin typeface="Century Gothic"/>
                <a:ea typeface="+mj-lt"/>
                <a:cs typeface="Times New Roman"/>
              </a:rPr>
              <a:t>High‑Level Architecture</a:t>
            </a:r>
            <a:r>
              <a:rPr lang="en-US" dirty="0">
                <a:solidFill>
                  <a:srgbClr val="FFFFFF"/>
                </a:solidFill>
                <a:latin typeface="Century Gothic"/>
                <a:ea typeface="+mj-lt"/>
                <a:cs typeface="Times New Roman"/>
              </a:rPr>
              <a:t> </a:t>
            </a:r>
            <a:endParaRPr lang="en-US">
              <a:solidFill>
                <a:srgbClr val="FFFFFF"/>
              </a:solidFill>
              <a:latin typeface="Century Gothic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86F5-73D4-8484-43C5-ECD9631DB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684745"/>
            <a:ext cx="9882535" cy="392551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Client Applications (Web, Mobile, Internal Ops UI, Batch Scheduler)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Load Balancer (L4/L7)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API Gateway (JWT, routing, rate limiting, WAF)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Billing &amp; Collections Microservice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Policy Service + DB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Customer Service + DB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Notification Service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Payment Gateway Adapter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External Payment Provider (Webhook callbacks)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Kafka Event Bus</a:t>
            </a: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Billing DB</a:t>
            </a:r>
          </a:p>
          <a:p>
            <a:pPr>
              <a:buClr>
                <a:srgbClr val="FFFFFF"/>
              </a:buClr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21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Assessment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737777"/>
            <a:ext cx="1146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1188" y="1476902"/>
            <a:ext cx="3225452" cy="278746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50" b="1" dirty="0">
              <a:solidFill>
                <a:srgbClr val="0D1B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7848" y="1395149"/>
            <a:ext cx="4564483" cy="348307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  Load </a:t>
            </a:r>
            <a:r>
              <a:rPr lang="en-US" sz="15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balancer</a:t>
            </a:r>
            <a:endParaRPr lang="en-US" b="1"/>
          </a:p>
        </p:txBody>
      </p:sp>
      <p:sp>
        <p:nvSpPr>
          <p:cNvPr id="8" name="Text 6"/>
          <p:cNvSpPr/>
          <p:nvPr/>
        </p:nvSpPr>
        <p:spPr>
          <a:xfrm>
            <a:off x="4937760" y="1414272"/>
            <a:ext cx="6827520" cy="341376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Active/active cluster – 3 nodes behind anycast 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6336"/>
            <a:ext cx="11460480" cy="512064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948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4937760" y="1999488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replicas × 3 – JWT carried in token, no session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11552"/>
            <a:ext cx="1146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84704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microservice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4937760" y="2584704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K8s deployment replicas=3</a:t>
            </a:r>
            <a:endParaRPr lang="en-US" sz="1400">
              <a:latin typeface="Century Gothic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096768"/>
            <a:ext cx="11460480" cy="512064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6992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DB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4937760" y="3169920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primary + hot standby + read replica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81984"/>
            <a:ext cx="1146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55136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4937760" y="3755136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3-broker cluster, replication factor = 3</a:t>
            </a:r>
          </a:p>
        </p:txBody>
      </p:sp>
      <p:sp>
        <p:nvSpPr>
          <p:cNvPr id="29" name="Shape 27"/>
          <p:cNvSpPr/>
          <p:nvPr/>
        </p:nvSpPr>
        <p:spPr>
          <a:xfrm>
            <a:off x="365760" y="4267200"/>
            <a:ext cx="11460480" cy="512064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40352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4937760" y="4340352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per pod – CB + bulkhead + timeout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852416"/>
            <a:ext cx="1146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92556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store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4937760" y="4925568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– idempotency keys TTL=24h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5437632"/>
            <a:ext cx="11460480" cy="512064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510784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4937760" y="5510784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 + Kafka publish in one transaction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6022848"/>
            <a:ext cx="1146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09600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4937760" y="6096000"/>
            <a:ext cx="6827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stack mirrored in AZ-2, DNS failover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47810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2CBE-66C8-A7D5-D1F5-5CFA649B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-334697"/>
            <a:ext cx="8129587" cy="1590408"/>
          </a:xfrm>
        </p:spPr>
        <p:txBody>
          <a:bodyPr>
            <a:normAutofit/>
          </a:bodyPr>
          <a:lstStyle/>
          <a:p>
            <a:pPr algn="ctr"/>
            <a:r>
              <a:rPr lang="en-US" b="1" u="sng"/>
              <a:t>System Design Diagram</a:t>
            </a:r>
            <a:endParaRPr lang="en-US"/>
          </a:p>
        </p:txBody>
      </p:sp>
      <p:pic>
        <p:nvPicPr>
          <p:cNvPr id="32" name="Content Placeholder 3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4236731-0185-1847-93AC-143F429F8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786" y="1032467"/>
            <a:ext cx="10461251" cy="55329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14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97536"/>
            <a:ext cx="10972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>
                <a:solidFill>
                  <a:srgbClr val="FFFFFF"/>
                </a:solidFill>
                <a:latin typeface="Century Gothic"/>
                <a:ea typeface="Calibri"/>
                <a:cs typeface="Calibri"/>
              </a:rPr>
              <a:t>Production HA Patterns 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3779520" cy="536448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19200"/>
            <a:ext cx="3779520" cy="73152"/>
          </a:xfrm>
          <a:prstGeom prst="rect">
            <a:avLst/>
          </a:prstGeom>
          <a:solidFill>
            <a:srgbClr val="028090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6448" y="1365504"/>
            <a:ext cx="3438144" cy="3901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Circuit breaker (Resilience4j)</a:t>
            </a: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6448" y="175564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Per pod · wraps every GatewayClient call</a:t>
            </a:r>
            <a:endParaRPr lang="en-US" sz="12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6448" y="2072640"/>
            <a:ext cx="3291840" cy="0"/>
          </a:xfrm>
          <a:prstGeom prst="line">
            <a:avLst/>
          </a:prstGeom>
          <a:noFill/>
          <a:ln w="6350">
            <a:solidFill>
              <a:srgbClr val="2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448" y="2194560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CLOSED — calls pass through normally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6448" y="2828544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OPEN — trips after 50% error rate; rejects instantly, prevents thread pile-up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6448" y="3462528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HALF-OPEN — after cooldown, test calls determine recovery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6448" y="4096512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Bulkhead limits concurrent gateway threads to 20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6448" y="4730496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Timeout: 3 s gateway call max — never blocks indefinitely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28160" y="1219200"/>
            <a:ext cx="3779520" cy="536448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BA751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8160" y="1219200"/>
            <a:ext cx="377952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365504"/>
            <a:ext cx="3438144" cy="3901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Idempotency store (Redis)</a:t>
            </a: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98848" y="175564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Per pod · checked before every payment charge</a:t>
            </a:r>
            <a:endParaRPr lang="en-US" sz="12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98848" y="2072640"/>
            <a:ext cx="3291840" cy="0"/>
          </a:xfrm>
          <a:prstGeom prst="line">
            <a:avLst/>
          </a:prstGeom>
          <a:noFill/>
          <a:ln w="6350">
            <a:solidFill>
              <a:srgbClr val="2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2194560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Key = invoiceId + attemptNumber (e.g. PAY-INV-1001-3)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98848" y="2828544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Check Redis BEFORE touching the DB or calling the gateway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98848" y="3462528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Cache result on success with TTL = 24h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98848" y="4096512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Duplicate call returns cached result — customer never double-charged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98848" y="4730496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Redis runs in cluster mode across both AZs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90560" y="1219200"/>
            <a:ext cx="3779520" cy="536448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D85A3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0560" y="1219200"/>
            <a:ext cx="377952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1248" y="1365504"/>
            <a:ext cx="3438144" cy="3901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Transactional outbox</a:t>
            </a: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61248" y="175564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DB write + Kafka event in a single database transaction</a:t>
            </a:r>
            <a:endParaRPr lang="en-US" sz="12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61248" y="2072640"/>
            <a:ext cx="3291840" cy="0"/>
          </a:xfrm>
          <a:prstGeom prst="line">
            <a:avLst/>
          </a:prstGeom>
          <a:noFill/>
          <a:ln w="6350">
            <a:solidFill>
              <a:srgbClr val="2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1248" y="2194560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Payment row and outbox row written atomically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61248" y="2828544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Outbox relay reads undelivered rows → publishes to Kafka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61248" y="3462528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If pod crashes after DB commit but before Kafka publish — relay retries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61248" y="4096512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Guarantees at-least-once event delivery to all consumers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61248" y="4730496"/>
            <a:ext cx="34381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FFFFFF"/>
                </a:solidFill>
                <a:latin typeface="Century Gothic"/>
                <a:ea typeface="Calibri" pitchFamily="34" charset="-122"/>
                <a:cs typeface="Calibri" pitchFamily="34" charset="-120"/>
              </a:rPr>
              <a:t>▸ Eliminates lost delinquency.updated and payment.failed events</a:t>
            </a:r>
            <a:endParaRPr lang="en-US" sz="1333" b="1" dirty="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9635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97536"/>
            <a:ext cx="10972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Lifecycle — Reminder → Retry → Gateway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41120"/>
            <a:ext cx="536448" cy="536448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41120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1048512" y="1328928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scheduler fires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8512" y="16703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premium due date → publishes payment.due to Kafka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621792" y="1889760"/>
            <a:ext cx="0" cy="30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18944"/>
            <a:ext cx="536448" cy="5364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18944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48512" y="2206752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8512" y="2548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ReminderService → email/SMS/push via NotificationClient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21792" y="2767584"/>
            <a:ext cx="0" cy="30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96768"/>
            <a:ext cx="536448" cy="5364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6768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1048512" y="3084576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transaction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8512" y="3425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→ lock → PROCESSING → gateway call → commit + outbox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621792" y="3645408"/>
            <a:ext cx="0" cy="30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74592"/>
            <a:ext cx="536448" cy="5364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4592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048512" y="3962400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call (CB)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8512" y="4303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Stripe/Adyen via Resilience4j · HMAC webhook verification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21792" y="4523232"/>
            <a:ext cx="0" cy="30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852416"/>
            <a:ext cx="536448" cy="5364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52416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1048512" y="4840224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8512" y="518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PAID · clear delinquency · publish payment.success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21792" y="5401056"/>
            <a:ext cx="0" cy="30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5730240"/>
            <a:ext cx="536448" cy="53644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730240"/>
            <a:ext cx="5364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1048512" y="5718048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path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8512" y="6059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RetryService queues: +1d → +3d → +7d back-off ladder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6949023" y="1250515"/>
            <a:ext cx="5242560" cy="5388864"/>
          </a:xfrm>
          <a:prstGeom prst="rect">
            <a:avLst/>
          </a:prstGeom>
          <a:solidFill>
            <a:schemeClr val="tx2">
              <a:lumMod val="50000"/>
            </a:schemeClr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1219200"/>
            <a:ext cx="524256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219200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state machine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6560" y="1804416"/>
            <a:ext cx="1341120" cy="5364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1804416"/>
            <a:ext cx="1341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182880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latin typeface="Calibri"/>
                <a:ea typeface="Calibri"/>
                <a:cs typeface="Calibri"/>
              </a:rPr>
              <a:t>On-time payment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0" y="209702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past due: 0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37120" y="2340864"/>
            <a:ext cx="0" cy="3169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66560" y="2657856"/>
            <a:ext cx="1341120" cy="5364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657856"/>
            <a:ext cx="1341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268224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latin typeface="Calibri"/>
                <a:ea typeface="Calibri"/>
                <a:cs typeface="Calibri"/>
              </a:rPr>
              <a:t>Missed due date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29600" y="295046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Days past due: 1–7</a:t>
            </a:r>
          </a:p>
        </p:txBody>
      </p:sp>
      <p:sp>
        <p:nvSpPr>
          <p:cNvPr id="45" name="Shape 43"/>
          <p:cNvSpPr/>
          <p:nvPr/>
        </p:nvSpPr>
        <p:spPr>
          <a:xfrm>
            <a:off x="7437120" y="3194304"/>
            <a:ext cx="0" cy="3169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766560" y="3511296"/>
            <a:ext cx="1341120" cy="5364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3511296"/>
            <a:ext cx="1341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29600" y="353568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latin typeface="Calibri"/>
                <a:ea typeface="Calibri"/>
                <a:cs typeface="Calibri"/>
              </a:rPr>
              <a:t>Retry 2 failed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29600" y="380390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Days past due: 8–30</a:t>
            </a:r>
          </a:p>
        </p:txBody>
      </p:sp>
      <p:sp>
        <p:nvSpPr>
          <p:cNvPr id="50" name="Shape 48"/>
          <p:cNvSpPr/>
          <p:nvPr/>
        </p:nvSpPr>
        <p:spPr>
          <a:xfrm>
            <a:off x="7437120" y="4047744"/>
            <a:ext cx="0" cy="3169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766560" y="4364736"/>
            <a:ext cx="1341120" cy="5364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4364736"/>
            <a:ext cx="1341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29600" y="438912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latin typeface="Calibri"/>
                <a:ea typeface="Calibri"/>
                <a:cs typeface="Calibri"/>
              </a:rPr>
              <a:t>Retry 3 failed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29600" y="465734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Days past due: 31–90</a:t>
            </a:r>
          </a:p>
        </p:txBody>
      </p:sp>
      <p:sp>
        <p:nvSpPr>
          <p:cNvPr id="55" name="Shape 53"/>
          <p:cNvSpPr/>
          <p:nvPr/>
        </p:nvSpPr>
        <p:spPr>
          <a:xfrm>
            <a:off x="7437120" y="4901184"/>
            <a:ext cx="0" cy="3169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766560" y="5218176"/>
            <a:ext cx="1341120" cy="5364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5218176"/>
            <a:ext cx="13411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0" y="5242560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latin typeface="Calibri"/>
                <a:ea typeface="Calibri"/>
                <a:cs typeface="Calibri"/>
              </a:rPr>
              <a:t>Max escalation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29600" y="551078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1200" dirty="0">
                <a:latin typeface="Calibri"/>
                <a:ea typeface="Calibri"/>
                <a:cs typeface="Calibri"/>
              </a:rPr>
              <a:t>ays past due: 90+</a:t>
            </a:r>
          </a:p>
        </p:txBody>
      </p:sp>
    </p:spTree>
    <p:extLst>
      <p:ext uri="{BB962C8B-B14F-4D97-AF65-F5344CB8AC3E}">
        <p14:creationId xmlns:p14="http://schemas.microsoft.com/office/powerpoint/2010/main" val="225307843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Widescreen</PresentationFormat>
  <Paragraphs>0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Slice</vt:lpstr>
      <vt:lpstr>Policy Billing &amp; Collections Engine</vt:lpstr>
      <vt:lpstr>System Overview</vt:lpstr>
      <vt:lpstr> High‑Level Architecture </vt:lpstr>
      <vt:lpstr>PowerPoint Presentation</vt:lpstr>
      <vt:lpstr>System Design Diagram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511</cp:revision>
  <dcterms:created xsi:type="dcterms:W3CDTF">2026-03-15T21:41:16Z</dcterms:created>
  <dcterms:modified xsi:type="dcterms:W3CDTF">2026-03-17T03:19:45Z</dcterms:modified>
</cp:coreProperties>
</file>